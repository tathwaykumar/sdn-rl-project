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EB79A"/>
                </a:solidFill>
                <a:latin typeface="Calibri"/>
              </a:rPr>
              <a:t>NETWORK OPS &amp; RL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9875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2F7F2"/>
                </a:solidFill>
                <a:latin typeface="Cambria"/>
              </a:rPr>
              <a:t>RL-Based SDN Traffic Routing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2F7F2"/>
                </a:solidFill>
                <a:latin typeface="Cambria"/>
              </a:rPr>
              <a:t>and Flow-Table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F2F7F2"/>
                </a:solidFill>
                <a:latin typeface="Calibri"/>
              </a:rPr>
              <a:t>A working Mininet + OpenFlow prototype that uses tabular Q-learning to jointly optimise traffic routing and flow-rule idle timeouts — measured against a conventional shortest-path baseline on identical, seeded traffic.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FB3A8"/>
                </a:solidFill>
                <a:latin typeface="Calibri"/>
              </a:rPr>
              <a:t>Computer Networks Project Review  ·  Final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9FB3A8"/>
                </a:solidFill>
                <a:latin typeface="Calibri"/>
              </a:rPr>
              <a:t>Team / Student name(s): ___________________        Date: ___________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188720"/>
            <a:ext cx="2834640" cy="109728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2618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2C55E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90195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FB3A8"/>
                </a:solidFill>
                <a:latin typeface="Calibri"/>
              </a:rPr>
              <a:t>controller variants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560320"/>
            <a:ext cx="2834640" cy="109728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6334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2C55E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327355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FB3A8"/>
                </a:solidFill>
                <a:latin typeface="Calibri"/>
              </a:rPr>
              <a:t>traffic workloads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931920"/>
            <a:ext cx="2834640" cy="109728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40050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2C55E"/>
                </a:solidFill>
                <a:latin typeface="Cambria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464515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FB3A8"/>
                </a:solidFill>
                <a:latin typeface="Calibri"/>
              </a:rPr>
              <a:t>primary matrix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62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6201A"/>
                </a:solidFill>
                <a:latin typeface="Cambria"/>
              </a:rPr>
              <a:t>Why routing and flow-table control belong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6201A"/>
                </a:solidFill>
                <a:latin typeface="Calibri"/>
              </a:rPr>
              <a:t>Software-Defined Networking separates the control plane from the dataplane, which makes the network programmable — but conventional SDN controllers still route traffic with static, hand-written rules (shortest path by hop count) and manage flow-table entries with fixed idle timeouts.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01A"/>
                </a:solidFill>
                <a:latin typeface="Calibri"/>
              </a:rPr>
              <a:t>Static routing is blind to load.  </a:t>
            </a:r>
            <a:r>
              <a:rPr sz="1300" b="0" i="0">
                <a:solidFill>
                  <a:srgbClr val="5B6B62"/>
                </a:solidFill>
                <a:latin typeface="Calibri"/>
              </a:rPr>
              <a:t>A fixed shortest path is only correct in the load regime it was designed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01A"/>
                </a:solidFill>
                <a:latin typeface="Calibri"/>
              </a:rPr>
              <a:t>Flow-table entries are a scarce resource.  </a:t>
            </a:r>
            <a:r>
              <a:rPr sz="1300" b="0" i="0">
                <a:solidFill>
                  <a:srgbClr val="5B6B62"/>
                </a:solidFill>
                <a:latin typeface="Calibri"/>
              </a:rPr>
              <a:t>Switch TCAM is small; idle timeouts too long waste it, too short thrash the controller.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01A"/>
                </a:solidFill>
                <a:latin typeface="Calibri"/>
              </a:rPr>
              <a:t>These two problems are usually solved separately.  </a:t>
            </a:r>
            <a:r>
              <a:rPr sz="1300" b="0" i="0">
                <a:solidFill>
                  <a:srgbClr val="5B6B62"/>
                </a:solidFill>
                <a:latin typeface="Calibri"/>
              </a:rPr>
              <a:t>Most SDN+RL work optimises routing OR flow-table management, rarely both under one reward.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91640"/>
            <a:ext cx="4206240" cy="411480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965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7EB79A"/>
                </a:solidFill>
                <a:latin typeface="Calibri"/>
              </a:rPr>
              <a:t>THE QUESTION THIS PROJECT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23160"/>
            <a:ext cx="3657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i="0">
                <a:solidFill>
                  <a:srgbClr val="F2F7F2"/>
                </a:solidFill>
                <a:latin typeface="Cambria"/>
              </a:rPr>
              <a:t>Does jointly learning routing AND flow-rule timeouts beat learning routing alone — and does either beat a conventional fixed policy — under identical, seeded traffic?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84632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9FB3A8"/>
                </a:solidFill>
                <a:latin typeface="Calibri"/>
              </a:rPr>
              <a:t>Answered empirically under “Results”, later in this deck, with measured data — not simulation.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79A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7F2"/>
                </a:solidFill>
                <a:latin typeface="Cambria"/>
              </a:rPr>
              <a:t>The research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801368"/>
            <a:ext cx="9326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F2F7F2"/>
                </a:solidFill>
                <a:latin typeface="Calibri"/>
              </a:rPr>
              <a:t>Conventional SDN routing (shortest-path-by-hop-count) is provably sub-optimal whenever the shortest path is also the narrowest one, under 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852928"/>
            <a:ext cx="9326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F2F7F2"/>
                </a:solidFill>
                <a:latin typeface="Calibri"/>
              </a:rPr>
              <a:t>Static flow-rule idle timeouts trade off controller load against flow-table occupancy with no way to adapt to traffic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904488"/>
            <a:ext cx="9326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F2F7F2"/>
                </a:solidFill>
                <a:latin typeface="Calibri"/>
              </a:rPr>
              <a:t>RL can in principle adapt both — but most published SDN+RL work optimises only routing, is evaluated in pure simulation, or is not checked against what the switches actually installed.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663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22C55E"/>
                </a:solidFill>
                <a:latin typeface="Calibri"/>
              </a:rPr>
              <a:t>This project's position:  </a:t>
            </a:r>
            <a:r>
              <a:rPr sz="1350" b="0" i="0">
                <a:solidFill>
                  <a:srgbClr val="F2F7F2"/>
                </a:solidFill>
                <a:latin typeface="Calibri"/>
              </a:rPr>
              <a:t>build an emulated, OpenFlow-faithful testbed where both the routing path AND the flow-rule idle timeout are RL actions, verified against switch-side flow-table dumps rather than controller logs.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62"/>
                </a:solidFill>
                <a:latin typeface="Calibri"/>
              </a:rPr>
              <a:t>OBJECTIVES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6201A"/>
                </a:solidFill>
                <a:latin typeface="Cambria"/>
              </a:rPr>
              <a:t>What was built, and how it is evaluated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96596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7452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01A"/>
                </a:solidFill>
                <a:latin typeface="Calibri"/>
              </a:rPr>
              <a:t>Build a 5-switch emulated OpenFlow 1.3 network (Mininet + Open vSwitch) with two link-disjoint, asymmetric paths.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55080" y="196596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7452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01A"/>
                </a:solidFill>
                <a:latin typeface="Calibri"/>
              </a:rPr>
              <a:t>Implement three controller variants (A/B/C) that isolate RL routing and RL flow-timeout control one variable at a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24612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5468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01A"/>
                </a:solidFill>
                <a:latin typeface="Calibri"/>
              </a:rPr>
              <a:t>Drive all variants with identical seeded traffic across four workloads designed to stress different parts of the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063240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324612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461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15468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01A"/>
                </a:solidFill>
                <a:latin typeface="Calibri"/>
              </a:rPr>
              <a:t>Measure outcomes independently of the reward (ping, iperf3); verify installed switch state against flow-table dumps.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52628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43484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01A"/>
                </a:solidFill>
                <a:latin typeface="Calibri"/>
              </a:rPr>
              <a:t>Report results with 95% confidence intervals across seeds; run control experiments (frozen / shuffled agent).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343400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5080" y="452628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5262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43484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01A"/>
                </a:solidFill>
                <a:latin typeface="Calibri"/>
              </a:rPr>
              <a:t>Expose every stage — decisions, rewards, Q-values, comparisons — in a live, read-only research dashboard.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79A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7F2"/>
                </a:solidFill>
                <a:latin typeface="Cambria"/>
              </a:rPr>
              <a:t>From the dataplane to the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066543" cy="356616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57399"/>
            <a:ext cx="1792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F7F2"/>
                </a:solidFill>
                <a:latin typeface="Cambria"/>
              </a:rPr>
              <a:t>Dataplane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96311"/>
            <a:ext cx="179222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1">
                <a:solidFill>
                  <a:srgbClr val="3B82F6"/>
                </a:solidFill>
                <a:latin typeface="Calibri"/>
              </a:rPr>
              <a:t>Mininet + Open vSwitch 3.7.1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08959"/>
            <a:ext cx="179222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5 switches, 4 hosts</a:t>
            </a:r>
          </a:p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OpenFlow 1.3 southbound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6623" y="1874519"/>
            <a:ext cx="2066543" cy="356616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3783" y="2057399"/>
            <a:ext cx="1792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F7F2"/>
                </a:solidFill>
                <a:latin typeface="Cambria"/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3783" y="2496311"/>
            <a:ext cx="179222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1">
                <a:solidFill>
                  <a:srgbClr val="22C55E"/>
                </a:solidFill>
                <a:latin typeface="Calibri"/>
              </a:rPr>
              <a:t>os-ken (OpenFlow 1.3 apps)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783" y="3108959"/>
            <a:ext cx="179222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baseline.py — variant A</a:t>
            </a:r>
          </a:p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rl_route.py — variant B</a:t>
            </a:r>
          </a:p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rl_joint.py — variant C</a:t>
            </a:r>
          </a:p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rl_mixin.py — shared Q-learning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4606" y="1874519"/>
            <a:ext cx="2066543" cy="356616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7EB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6" y="2057399"/>
            <a:ext cx="1792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F7F2"/>
                </a:solidFill>
                <a:latin typeface="Cambria"/>
              </a:rP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6" y="2496311"/>
            <a:ext cx="179222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1">
                <a:solidFill>
                  <a:srgbClr val="7EB79A"/>
                </a:solidFill>
                <a:latin typeface="Calibri"/>
              </a:rPr>
              <a:t>Tabular Q-learning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6" y="3108959"/>
            <a:ext cx="179222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State discretisation</a:t>
            </a:r>
          </a:p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ε-greedy action selection</a:t>
            </a:r>
          </a:p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Reward computation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22589" y="1874519"/>
            <a:ext cx="2066543" cy="356616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F09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49" y="2057399"/>
            <a:ext cx="1792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F7F2"/>
                </a:solidFill>
                <a:latin typeface="Cambria"/>
              </a:rPr>
              <a:t>Experiments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49" y="2496311"/>
            <a:ext cx="179222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1">
                <a:solidFill>
                  <a:srgbClr val="F0923A"/>
                </a:solidFill>
                <a:latin typeface="Calibri"/>
              </a:rPr>
              <a:t>Runner + workload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49" y="3108959"/>
            <a:ext cx="179222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Seeded traffic (iperf3, ping)</a:t>
            </a:r>
          </a:p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results/runs/&lt;run&gt;/ (append-only)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2" y="1874519"/>
            <a:ext cx="2066543" cy="356616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F05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2" y="2057399"/>
            <a:ext cx="17922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F7F2"/>
                </a:solidFill>
                <a:latin typeface="Cambria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2" y="2496311"/>
            <a:ext cx="179222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1">
                <a:solidFill>
                  <a:srgbClr val="F0506E"/>
                </a:solidFill>
                <a:latin typeface="Calibri"/>
              </a:rPr>
              <a:t>FastAPI backend, React 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2" y="3108959"/>
            <a:ext cx="179222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Reads files only — zero extra OF traffic</a:t>
            </a:r>
          </a:p>
          <a:p>
            <a:pPr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930">
                <a:solidFill>
                  <a:srgbClr val="F2F7F2"/>
                </a:solidFill>
                <a:latin typeface="Calibri"/>
              </a:rPr>
              <a:t>Read-only; never writes run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79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9FB3A8"/>
                </a:solidFill>
                <a:latin typeface="Calibri"/>
              </a:rPr>
              <a:t>Design discipline: the dashboard reads telemetry the controller and runner already write to disk and never queries the switches itself — so A/B/C measurements (incl. controller message load) are identical whether or not anyone is watching.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62"/>
                </a:solidFill>
                <a:latin typeface="Calibri"/>
              </a:rPr>
              <a:t>MININET / OVS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6201A"/>
                </a:solidFill>
                <a:latin typeface="Cambria"/>
              </a:rPr>
              <a:t>A load-dependent optimum, by construction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0E1710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D7E6DD"/>
                </a:solidFill>
                <a:latin typeface="Courier New"/>
              </a:rPr>
              <a:t>    h1 --.                                  .-- h3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D7E6DD"/>
                </a:solidFill>
                <a:latin typeface="Courier New"/>
              </a:rPr>
              <a:t>          +-- s1 ------- s2 ------- s4 -----+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D7E6DD"/>
                </a:solidFill>
                <a:latin typeface="Courier New"/>
              </a:rPr>
              <a:t>    h2 --'     |                    |        '-- h4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D7E6DD"/>
                </a:solidFill>
                <a:latin typeface="Courier New"/>
              </a:rPr>
              <a:t>               '--- s3 ---- s5 -----'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C55E"/>
                </a:solidFill>
                <a:latin typeface="Courier New"/>
              </a:rPr>
              <a:t>Path A:  s1 → s2 → s4   </a:t>
            </a:r>
            <a:r>
              <a:rPr sz="1250" b="0" i="0">
                <a:solidFill>
                  <a:srgbClr val="9FB3A8"/>
                </a:solidFill>
                <a:latin typeface="Courier New"/>
              </a:rPr>
              <a:t>2 hops, 1 ms/link, 5 Mbit/s bottleneck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  <a:latin typeface="Courier New"/>
              </a:rPr>
              <a:t>Path B:  s1 → s3 → s5 → s4   </a:t>
            </a:r>
            <a:r>
              <a:rPr sz="1250" b="0" i="0">
                <a:solidFill>
                  <a:srgbClr val="9FB3A8"/>
                </a:solidFill>
                <a:latin typeface="Courier New"/>
              </a:rPr>
              <a:t>3 hops, 2 ms/link, 10 Mbit/s bottleneck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6201A"/>
                </a:solidFill>
                <a:latin typeface="Calibri"/>
              </a:rPr>
              <a:t>Path A is shorter but narrower; Path B is longer but wider. The asymmetry is the whole experiment: a fixed hop-count policy always picks A, which is correct at low load and wrong at high load. A state-conditioned policy can be right in both regimes — this is the property every workload is designed to probe.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79A"/>
                </a:solidFill>
                <a:latin typeface="Calibri"/>
              </a:rPr>
              <a:t>CONTROLLER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7F2"/>
                </a:solidFill>
                <a:latin typeface="Cambria"/>
              </a:rPr>
              <a:t>Three variants, one variable changed at a 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657600"/>
                <a:gridCol w="3291840"/>
                <a:gridCol w="3108960"/>
              </a:tblGrid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2F7F2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2F7F2"/>
                          </a:solidFill>
                          <a:latin typeface="Calibri"/>
                        </a:rPr>
                        <a:t>Routing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2F7F2"/>
                          </a:solidFill>
                          <a:latin typeface="Calibri"/>
                        </a:rPr>
                        <a:t>Flow-rule idle timeout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2F7F2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Conventional shortest-path (fewest hops)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Fixed for the whole run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Baseline — no agent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Q-learning chooses the path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Fixed for the whole run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Isolates routing control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Q-learning chooses the path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Q-learning chooses the timeout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2F7F2"/>
                          </a:solidFill>
                          <a:latin typeface="Calibri"/>
                        </a:rPr>
                        <a:t>Isolates + adds timeout control</a:t>
                      </a:r>
                    </a:p>
                  </a:txBody>
                  <a:tcPr marL="73152" marT="45720" marB="45720">
                    <a:solidFill>
                      <a:srgbClr val="12231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2F7F2"/>
                </a:solidFill>
                <a:latin typeface="Calibri"/>
              </a:rPr>
              <a:t>A and B differ in exactly one respect; B and C differ in exactly one respect. </a:t>
            </a:r>
            <a:r>
              <a:rPr sz="1350" b="0" i="0">
                <a:solidFill>
                  <a:srgbClr val="9FB3A8"/>
                </a:solidFill>
                <a:latin typeface="Calibri"/>
              </a:rPr>
              <a:t>Any measured difference between B and C is therefore attributable to flow-timeout control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62"/>
                </a:solidFill>
                <a:latin typeface="Calibri"/>
              </a:rPr>
              <a:t>RL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6201A"/>
                </a:solidFill>
                <a:latin typeface="Cambria"/>
              </a:rPr>
              <a:t>One decision, start to finish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783080" cy="329184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5860" y="230428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" y="2304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971800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201A"/>
                </a:solidFill>
                <a:latin typeface="Cambria"/>
              </a:rP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83280"/>
            <a:ext cx="156362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B62"/>
                </a:solidFill>
                <a:latin typeface="Calibri"/>
              </a:rPr>
              <a:t>Network state as 4 coarse bins: path A/B utilisation, flow-table occupancy, table-miss rate (144 states)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4872" y="2103120"/>
            <a:ext cx="1783080" cy="329184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22092" y="230428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2092" y="2304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8024" y="2971800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201A"/>
                </a:solidFill>
                <a:latin typeface="Cambria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383280"/>
            <a:ext cx="156362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B62"/>
                </a:solidFill>
                <a:latin typeface="Calibri"/>
              </a:rPr>
              <a:t>ε-greedy: current best-known action, or a random one to keep exploring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2103120"/>
            <a:ext cx="1783080" cy="329184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78324" y="230428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8324" y="2304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971800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201A"/>
                </a:solidFill>
                <a:latin typeface="Cambria"/>
              </a:rPr>
              <a:t>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3383280"/>
            <a:ext cx="156362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B62"/>
                </a:solidFill>
                <a:latin typeface="Calibri"/>
              </a:rPr>
              <a:t>Controller installs the decision via OpenFlow (routing; B/C also set the idle timeout)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2103120"/>
            <a:ext cx="1783080" cy="329184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971800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201A"/>
                </a:solidFill>
                <a:latin typeface="Cambria"/>
              </a:rPr>
              <a:t>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3383280"/>
            <a:ext cx="156362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B62"/>
                </a:solidFill>
                <a:latin typeface="Calibri"/>
              </a:rPr>
              <a:t>Switches report what happened, from their own OpenFlow counters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568" y="2103120"/>
            <a:ext cx="1783080" cy="329184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0788" y="230428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0788" y="2304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971800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201A"/>
                </a:solidFill>
                <a:latin typeface="Cambria"/>
              </a:rPr>
              <a:t>Reward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383280"/>
            <a:ext cx="156362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B62"/>
                </a:solidFill>
                <a:latin typeface="Calibri"/>
              </a:rPr>
              <a:t>Outcome scored by the project's fixed reward formula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103120"/>
            <a:ext cx="1783080" cy="329184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47020" y="230428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47020" y="2304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2971800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16201A"/>
                </a:solidFill>
                <a:latin typeface="Cambria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3383280"/>
            <a:ext cx="156362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B6B62"/>
                </a:solidFill>
                <a:latin typeface="Calibri"/>
              </a:rPr>
              <a:t>Q(s,a) updated by the Q-learning rule — only the one cell just taken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B6B62"/>
                </a:solidFill>
                <a:latin typeface="Calibri"/>
              </a:rPr>
              <a:t>Decision cadence: one MDP step per 1 s polling interval, not per packet — a throughput measurement can always be attributed to one specific decision.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79A"/>
                </a:solidFill>
                <a:latin typeface="Calibri"/>
              </a:rPr>
              <a:t>REWARD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7F2"/>
                </a:solidFill>
                <a:latin typeface="Cambria"/>
              </a:rPr>
              <a:t>Scored only from what the switches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2F7F2"/>
                </a:solidFill>
                <a:latin typeface="Courier New"/>
              </a:rPr>
              <a:t>r = </a:t>
            </a:r>
            <a:r>
              <a:rPr sz="1600" b="1" i="0">
                <a:solidFill>
                  <a:srgbClr val="34D980"/>
                </a:solidFill>
                <a:latin typeface="Courier New"/>
              </a:rPr>
              <a:t>1.00×throughput</a:t>
            </a:r>
            <a:r>
              <a:rPr sz="1600" b="1" i="0">
                <a:solidFill>
                  <a:srgbClr val="F0506E"/>
                </a:solidFill>
                <a:latin typeface="Courier New"/>
              </a:rPr>
              <a:t>  −  0.40×utilisation  −  0.60×loss  −  0.25×occupancy  −  0.15×controller_msgs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91440" cy="365760"/>
          </a:xfrm>
          <a:prstGeom prst="rect">
            <a:avLst/>
          </a:prstGeom>
          <a:solidFill>
            <a:srgbClr val="34D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971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7F2"/>
                </a:solidFill>
                <a:latin typeface="Calibri"/>
              </a:rPr>
              <a:t>+ Throughput  </a:t>
            </a:r>
            <a:r>
              <a:rPr sz="1300" b="0" i="0">
                <a:solidFill>
                  <a:srgbClr val="9FB3A8"/>
                </a:solidFill>
                <a:latin typeface="Calibri"/>
              </a:rPr>
              <a:t>Delivered bits/sec, scaled 0–1 against a fixed reference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91440" cy="365760"/>
          </a:xfrm>
          <a:prstGeom prst="rect">
            <a:avLst/>
          </a:prstGeom>
          <a:solidFill>
            <a:srgbClr val="F0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4747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7F2"/>
                </a:solidFill>
                <a:latin typeface="Calibri"/>
              </a:rPr>
              <a:t>− Max link utilisation  </a:t>
            </a:r>
            <a:r>
              <a:rPr sz="1300" b="0" i="0">
                <a:solidFill>
                  <a:srgbClr val="9FB3A8"/>
                </a:solidFill>
                <a:latin typeface="Calibri"/>
              </a:rPr>
              <a:t>Congestion / queueing proxy — OpenFlow counters cannot see queue depth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91440" cy="365760"/>
          </a:xfrm>
          <a:prstGeom prst="rect">
            <a:avLst/>
          </a:prstGeom>
          <a:solidFill>
            <a:srgbClr val="F0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977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7F2"/>
                </a:solidFill>
                <a:latin typeface="Calibri"/>
              </a:rPr>
              <a:t>− Packet loss  </a:t>
            </a:r>
            <a:r>
              <a:rPr sz="1300" b="0" i="0">
                <a:solidFill>
                  <a:srgbClr val="9FB3A8"/>
                </a:solidFill>
                <a:latin typeface="Calibri"/>
              </a:rPr>
              <a:t>From OVS flow/port counters, not 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91440" cy="3657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480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7F2"/>
                </a:solidFill>
                <a:latin typeface="Calibri"/>
              </a:rPr>
              <a:t>− Flow-table occupancy  </a:t>
            </a:r>
            <a:r>
              <a:rPr sz="1300" b="0" i="0">
                <a:solidFill>
                  <a:srgbClr val="9FB3A8"/>
                </a:solidFill>
                <a:latin typeface="Calibri"/>
              </a:rPr>
              <a:t>Installed-rule count per switch against a soft 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91440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983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7F2"/>
                </a:solidFill>
                <a:latin typeface="Calibri"/>
              </a:rPr>
              <a:t>− Controller messages  </a:t>
            </a:r>
            <a:r>
              <a:rPr sz="1300" b="0" i="0">
                <a:solidFill>
                  <a:srgbClr val="9FB3A8"/>
                </a:solidFill>
                <a:latin typeface="Calibri"/>
              </a:rPr>
              <a:t>Reactive PacketIn + FlowMod per second — stats polling excluded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778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281F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6928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1">
                <a:solidFill>
                  <a:srgbClr val="F2F7F2"/>
                </a:solidFill>
                <a:latin typeface="Calibri"/>
              </a:rPr>
              <a:t>Each term is clamped 0–1, weighted, summed, then clamped to [-1, +1]. The agent never sees ping or iperf3 — an improvement in those independently-measured metrics is an out-of-sample consequence of the policy, not a self-fulfilling optimisation.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62"/>
                </a:solidFill>
                <a:latin typeface="Calibri"/>
              </a:rP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6201A"/>
                </a:solidFill>
                <a:latin typeface="Cambria"/>
              </a:rPr>
              <a:t>Four workloads, each testing a different failure mode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B82F6"/>
                </a:solidFill>
                <a:latin typeface="Cambria"/>
              </a:rPr>
              <a:t>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0487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16201A"/>
                </a:solidFill>
                <a:latin typeface="Calibri"/>
              </a:rPr>
              <a:t>One 1 Mbit/s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53512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6B62"/>
                </a:solidFill>
                <a:latin typeface="Calibri"/>
              </a:rPr>
              <a:t>Tests: </a:t>
            </a:r>
            <a:r>
              <a:rPr sz="1050" b="0" i="0">
                <a:solidFill>
                  <a:srgbClr val="5B6B62"/>
                </a:solidFill>
                <a:latin typeface="Calibri"/>
              </a:rPr>
              <a:t>Checks the agent doesn't over-use the big pipe when the small one is already enough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5349240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Cambria"/>
              </a:rPr>
              <a:t>heavy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0487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16201A"/>
                </a:solidFill>
                <a:latin typeface="Calibri"/>
              </a:rPr>
              <a:t>Two saturating TCP flows exceeding path A's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53512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6B62"/>
                </a:solidFill>
                <a:latin typeface="Calibri"/>
              </a:rPr>
              <a:t>Tests: </a:t>
            </a:r>
            <a:r>
              <a:rPr sz="1050" b="0" i="0">
                <a:solidFill>
                  <a:srgbClr val="5B6B62"/>
                </a:solidFill>
                <a:latin typeface="Calibri"/>
              </a:rPr>
              <a:t>Tests whether adaptive routing spills the second flow onto path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5349240" cy="73152"/>
          </a:xfrm>
          <a:prstGeom prst="rect">
            <a:avLst/>
          </a:prstGeom>
          <a:solidFill>
            <a:srgbClr val="7E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7EB79A"/>
                </a:solidFill>
                <a:latin typeface="Cambria"/>
              </a:rPr>
              <a:t>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5371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16201A"/>
                </a:solidFill>
                <a:latin typeface="Calibri"/>
              </a:rPr>
              <a:t>24 short flows (4s each), seeded 5-tuples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02352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6B62"/>
                </a:solidFill>
                <a:latin typeface="Calibri"/>
              </a:rPr>
              <a:t>Tests: </a:t>
            </a:r>
            <a:r>
              <a:rPr sz="1050" b="0" i="0">
                <a:solidFill>
                  <a:srgbClr val="5B6B62"/>
                </a:solidFill>
                <a:latin typeface="Calibri"/>
              </a:rPr>
              <a:t>Stresses the flow table — where idle-timeout control has something to win or lose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319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31920"/>
            <a:ext cx="5349240" cy="73152"/>
          </a:xfrm>
          <a:prstGeom prst="rect">
            <a:avLst/>
          </a:prstGeom>
          <a:solidFill>
            <a:srgbClr val="F0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0506E"/>
                </a:solidFill>
                <a:latin typeface="Cambria"/>
              </a:rPr>
              <a:t>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5371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16201A"/>
                </a:solidFill>
                <a:latin typeface="Calibri"/>
              </a:rPr>
              <a:t>heavy + a scripted cut of link s1–s2, then repair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02352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6B62"/>
                </a:solidFill>
                <a:latin typeface="Calibri"/>
              </a:rPr>
              <a:t>Tests: </a:t>
            </a:r>
            <a:r>
              <a:rPr sz="1050" b="0" i="0">
                <a:solidFill>
                  <a:srgbClr val="5B6B62"/>
                </a:solidFill>
                <a:latin typeface="Calibri"/>
              </a:rPr>
              <a:t>Tests reconvergence: how fast and correctly a policy reacts to a link going 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B62"/>
                </a:solidFill>
                <a:latin typeface="Calibri"/>
              </a:rPr>
              <a:t>Every workload is driven by random.Random(seed), so a given (workload, seed) pair offers identical traffic to all three variants — differences in results come only from routing choices.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79A"/>
                </a:solidFill>
                <a:latin typeface="Calibri"/>
              </a:rPr>
              <a:t>RESEARCH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7F2"/>
                </a:solidFill>
                <a:latin typeface="Cambria"/>
              </a:rPr>
              <a:t>A read-only console for every stage of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2F7F2"/>
                </a:solidFill>
                <a:latin typeface="Calibri"/>
              </a:rPr>
              <a:t>The dashboard never queries the switches — it reads the same telemetry files the controller and runner already write, so watching the console adds zero OpenFlow traffic and never perturbs a measured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7F2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4436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System status, live vitals, recent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6517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7F2"/>
                </a:solidFill>
                <a:latin typeface="Calibri"/>
              </a:rPr>
              <a:t>Live 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94436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Confirmed forwarding, from switch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7F2"/>
                </a:solidFill>
                <a:latin typeface="Calibri"/>
              </a:rPr>
              <a:t>Metrics &amp;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13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Throughput, latency, loss, occupancy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204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7F2"/>
                </a:solidFill>
                <a:latin typeface="Calibri"/>
              </a:rPr>
              <a:t>Reward 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813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What score the agent earned, and 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7F2"/>
                </a:solidFill>
                <a:latin typeface="Calibri"/>
              </a:rPr>
              <a:t>Decision Inspector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817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One decision's full life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3891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7F2"/>
                </a:solidFill>
                <a:latin typeface="Calibri"/>
              </a:rPr>
              <a:t>A/B/C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6817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Is the difference between variants real?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7F2"/>
                </a:solidFill>
                <a:latin typeface="Calibri"/>
              </a:rPr>
              <a:t>Experiments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504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Start / stop / monitor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52578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7F2"/>
                </a:solidFill>
                <a:latin typeface="Calibri"/>
              </a:rPr>
              <a:t>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5504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Every run, with full provenance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31736" y="1682496"/>
            <a:ext cx="4041648" cy="2874359"/>
          </a:xfrm>
          <a:prstGeom prst="roundRect">
            <a:avLst>
              <a:gd name="adj" fmla="val 6000"/>
            </a:avLst>
          </a:prstGeom>
          <a:solidFill>
            <a:srgbClr val="0A0F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verview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737360"/>
            <a:ext cx="3931920" cy="27646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86600" y="4593431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9FB3A8"/>
                </a:solidFill>
                <a:latin typeface="Calibri"/>
              </a:rPr>
              <a:t>Overview — status, workflow strip, recent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62"/>
                </a:solidFill>
                <a:latin typeface="Calibri"/>
              </a:rPr>
              <a:t>DASHBOARD — DECISION INSPECTOR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201A"/>
                </a:solidFill>
                <a:latin typeface="Cambria"/>
              </a:rPr>
              <a:t>Observe → Choose → Apply → Measure → Reward → Learn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636776"/>
            <a:ext cx="5047488" cy="3195828"/>
          </a:xfrm>
          <a:prstGeom prst="roundRect">
            <a:avLst>
              <a:gd name="adj" fmla="val 6000"/>
            </a:avLst>
          </a:prstGeom>
          <a:solidFill>
            <a:srgbClr val="0A0F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cisio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493776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88736" y="1636776"/>
            <a:ext cx="5047488" cy="3195828"/>
          </a:xfrm>
          <a:prstGeom prst="roundRect">
            <a:avLst>
              <a:gd name="adj" fmla="val 6000"/>
            </a:avLst>
          </a:prstGeom>
          <a:solidFill>
            <a:srgbClr val="0A0F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isio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493776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063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6201A"/>
                </a:solidFill>
                <a:latin typeface="Calibri"/>
              </a:rPr>
              <a:t>Every decision is traced through its full life cycle using only recorded data: what the agent observed, the Q-values behind its choice, whether the switches actually confirmed the routing change (checked against flow-table dumps, never controller logs), the measured outcome, the exact reward computation, and the precise Q-learning update.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79A"/>
                </a:solidFill>
                <a:latin typeface="Calibri"/>
              </a:rPr>
              <a:t>DASHBOARD — REWARD EXPLORER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7F2"/>
                </a:solidFill>
                <a:latin typeface="Cambria"/>
              </a:rPr>
              <a:t>What score did the agent earn, and which term produced 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636776"/>
            <a:ext cx="5047488" cy="3195828"/>
          </a:xfrm>
          <a:prstGeom prst="roundRect">
            <a:avLst>
              <a:gd name="adj" fmla="val 6000"/>
            </a:avLst>
          </a:prstGeom>
          <a:solidFill>
            <a:srgbClr val="0A0F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w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493776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88736" y="1636776"/>
            <a:ext cx="5047488" cy="3195828"/>
          </a:xfrm>
          <a:prstGeom prst="roundRect">
            <a:avLst>
              <a:gd name="adj" fmla="val 6000"/>
            </a:avLst>
          </a:prstGeom>
          <a:solidFill>
            <a:srgbClr val="0A0F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war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493776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063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2F7F2"/>
                </a:solidFill>
                <a:latin typeface="Calibri"/>
              </a:rPr>
              <a:t>The formula, weights and per-term values are read from the controller's own reward implementation and the run's recorded config — nothing here is recomputed or estimated. A worked example substitutes the actually-recorded numbers for the selected step directly into the formula.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62"/>
                </a:solidFill>
                <a:latin typeface="Calibri"/>
              </a:rPr>
              <a:t>DASHBOARD — A/B/C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6201A"/>
                </a:solidFill>
                <a:latin typeface="Cambria"/>
              </a:rPr>
              <a:t>Did the agent beat fixed routing — and is it real?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636776"/>
            <a:ext cx="5047488" cy="3195828"/>
          </a:xfrm>
          <a:prstGeom prst="roundRect">
            <a:avLst>
              <a:gd name="adj" fmla="val 6000"/>
            </a:avLst>
          </a:prstGeom>
          <a:solidFill>
            <a:srgbClr val="0A0F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493776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88736" y="1636776"/>
            <a:ext cx="5047488" cy="3195828"/>
          </a:xfrm>
          <a:prstGeom prst="roundRect">
            <a:avLst>
              <a:gd name="adj" fmla="val 6000"/>
            </a:avLst>
          </a:prstGeom>
          <a:solidFill>
            <a:srgbClr val="0A0F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ris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493776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063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6201A"/>
                </a:solidFill>
                <a:latin typeface="Calibri"/>
              </a:rPr>
              <a:t>A difference is only called real when the 95% confidence intervals across seeds do not overlap — otherwise it is reported as “not distinguishable,” never as “no difference.” Figures are computed with the project's own analysis code, so dashboard numbers match the generated report by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62"/>
                </a:solidFill>
                <a:latin typeface="Calibri"/>
              </a:rPr>
              <a:t>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6201A"/>
                </a:solidFill>
                <a:latin typeface="Cambria"/>
              </a:rPr>
              <a:t>Variant comparison across all four workloads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B62"/>
                </a:solidFill>
                <a:latin typeface="Calibri"/>
              </a:rPr>
              <a:t>60-run primary matrix · 3 variants × 4 workloads × 5 seeds · second-half window (closest approximation to the converged policy)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0343" y="1773936"/>
            <a:ext cx="10351008" cy="6788823"/>
          </a:xfrm>
          <a:prstGeom prst="roundRect">
            <a:avLst>
              <a:gd name="adj" fmla="val 6000"/>
            </a:avLst>
          </a:prstGeom>
          <a:solidFill>
            <a:srgbClr val="0A0F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mparison_second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828800"/>
            <a:ext cx="10241280" cy="6679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8617623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5B6B62"/>
                </a:solidFill>
                <a:latin typeface="Calibri"/>
              </a:rPr>
              <a:t>Source: analysis/out/fig_comparison_second_half.png — generated by analysis/plots.py directly from results/runs/, never hand-edited.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79A"/>
                </a:solidFill>
                <a:latin typeface="Calibri"/>
              </a:rPr>
              <a:t>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7F2"/>
                </a:solidFill>
                <a:latin typeface="Cambria"/>
              </a:rPr>
              <a:t>Where the 95% intervals say the difference is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800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34D980"/>
                </a:solidFill>
                <a:latin typeface="Cambria"/>
              </a:rPr>
              <a:t>+187–193%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7F2"/>
                </a:solidFill>
                <a:latin typeface="Calibri"/>
              </a:rPr>
              <a:t>throughput under heavy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821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B and C vs A — intervals do not overlap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800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34D980"/>
                </a:solidFill>
                <a:latin typeface="Cambria"/>
              </a:rPr>
              <a:t>+32–33%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8892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7F2"/>
                </a:solidFill>
                <a:latin typeface="Calibri"/>
              </a:rPr>
              <a:t>throughput under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821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B and C vs A — intervals do not overlap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4800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9FB3A8"/>
                </a:solidFill>
                <a:latin typeface="Cambria"/>
              </a:rPr>
              <a:t>not distinguishable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7F2"/>
                </a:solidFill>
                <a:latin typeface="Calibri"/>
              </a:rPr>
              <a:t>throughput under light &amp;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8523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at n=5 seeds — reported honestly, not hidden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114800"/>
            <a:ext cx="4800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506E"/>
                </a:solidFill>
                <a:latin typeface="Cambria"/>
              </a:rPr>
              <a:t>+22% to +78%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89204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7F2"/>
                </a:solidFill>
                <a:latin typeface="Calibri"/>
              </a:rPr>
              <a:t>flow-table occupancy, heavy &amp;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28523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FB3A8"/>
                </a:solidFill>
                <a:latin typeface="Calibri"/>
              </a:rPr>
              <a:t>Variant C vs A — intervals do not overlap; a real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9FB3A8"/>
                </a:solidFill>
                <a:latin typeface="Calibri"/>
              </a:rPr>
              <a:t>Figures verified against analysis/out/REPORT.md §6, generated from results/runs/ by analysis/report.py — no number entered by hand.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62"/>
                </a:solidFill>
                <a:latin typeface="Calibri"/>
              </a:rPr>
              <a:t>RIGOR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6201A"/>
                </a:solidFill>
                <a:latin typeface="Cambria"/>
              </a:rPr>
              <a:t>Did the switches actually do it — and did learning matter?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682496"/>
            <a:ext cx="5321808" cy="2095282"/>
          </a:xfrm>
          <a:prstGeom prst="roundRect">
            <a:avLst>
              <a:gd name="adj" fmla="val 6000"/>
            </a:avLst>
          </a:prstGeom>
          <a:solidFill>
            <a:srgbClr val="0A0F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behavi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212080" cy="1985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832642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5B6B62"/>
                </a:solidFill>
                <a:latin typeface="Calibri"/>
              </a:rPr>
              <a:t>Checked against ovs-ofctl flow-table dumps, never controller logs — 97–99% of installed rules agree with the decision in force when they were written.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6201A"/>
                </a:solidFill>
                <a:latin typeface="Cambria"/>
              </a:rPr>
              <a:t>Control experiment: does the learned Q-table matter?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606040"/>
            <a:ext cx="73152" cy="457200"/>
          </a:xfrm>
          <a:prstGeom prst="rect">
            <a:avLst/>
          </a:prstGeom>
          <a:solidFill>
            <a:srgbClr val="34D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56032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201A"/>
                </a:solidFill>
                <a:latin typeface="Calibri"/>
              </a:rPr>
              <a:t>trained  </a:t>
            </a:r>
            <a:r>
              <a:rPr sz="1150" b="0" i="0">
                <a:solidFill>
                  <a:srgbClr val="5B6B62"/>
                </a:solidFill>
                <a:latin typeface="Calibri"/>
              </a:rPr>
              <a:t>Normal Q-learning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291840"/>
            <a:ext cx="73152" cy="457200"/>
          </a:xfrm>
          <a:prstGeom prst="rect">
            <a:avLst/>
          </a:prstGeom>
          <a:solidFill>
            <a:srgbClr val="F0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24612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201A"/>
                </a:solidFill>
                <a:latin typeface="Calibri"/>
              </a:rPr>
              <a:t>frozen  </a:t>
            </a:r>
            <a:r>
              <a:rPr sz="1150" b="0" i="0">
                <a:solidFill>
                  <a:srgbClr val="5B6B62"/>
                </a:solidFill>
                <a:latin typeface="Calibri"/>
              </a:rPr>
              <a:t>All-zero Q-table, no exploration — collapses to one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977640"/>
            <a:ext cx="73152" cy="457200"/>
          </a:xfrm>
          <a:prstGeom prst="rect">
            <a:avLst/>
          </a:prstGeom>
          <a:solidFill>
            <a:srgbClr val="F0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93192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201A"/>
                </a:solidFill>
                <a:latin typeface="Calibri"/>
              </a:rPr>
              <a:t>shuffled  </a:t>
            </a:r>
            <a:r>
              <a:rPr sz="1150" b="0" i="0">
                <a:solidFill>
                  <a:srgbClr val="5B6B62"/>
                </a:solidFill>
                <a:latin typeface="Calibri"/>
              </a:rPr>
              <a:t>Learns normally, but action indices map to different dataplane 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0916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5B6B62"/>
                </a:solidFill>
                <a:latin typeface="Calibri"/>
              </a:rPr>
              <a:t>Frozen collapses to one action and scores far below trained. But shuffled scores close to trained, so most of the benefit likely comes from distributing traffic across paths/timeouts at all, not from having learned which action is best in which state. (n=3 seeds — a direction, not a significance claim.)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79A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7F2"/>
                </a:solidFill>
                <a:latin typeface="Cambria"/>
              </a:rPr>
              <a:t>Stated plainly, not discovered after the results were in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74520"/>
            <a:ext cx="109728" cy="109728"/>
          </a:xfrm>
          <a:prstGeom prst="ellipse">
            <a:avLst/>
          </a:prstGeom>
          <a:solidFill>
            <a:srgbClr val="F0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F7F2"/>
                </a:solidFill>
                <a:latin typeface="Calibri"/>
              </a:rPr>
              <a:t>WSL2 is emulation, not a testbed.  </a:t>
            </a:r>
            <a:r>
              <a:rPr sz="1300" b="0" i="0">
                <a:solidFill>
                  <a:srgbClr val="9FB3A8"/>
                </a:solidFill>
                <a:latin typeface="Calibri"/>
              </a:rPr>
              <a:t>Shared, non-real-time scheduling adds latency/jitter noise; relative A/B/C comparison stays valid.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109728" cy="109728"/>
          </a:xfrm>
          <a:prstGeom prst="ellipse">
            <a:avLst/>
          </a:prstGeom>
          <a:solidFill>
            <a:srgbClr val="F0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F7F2"/>
                </a:solidFill>
                <a:latin typeface="Calibri"/>
              </a:rPr>
              <a:t>Short runs, few seeds.  </a:t>
            </a:r>
            <a:r>
              <a:rPr sz="1300" b="0" i="0">
                <a:solidFill>
                  <a:srgbClr val="9FB3A8"/>
                </a:solidFill>
                <a:latin typeface="Calibri"/>
              </a:rPr>
              <a:t>~90 decision steps from a cold start, 5 seeds/cell — wide confidence intervals.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F0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F7F2"/>
                </a:solidFill>
                <a:latin typeface="Calibri"/>
              </a:rPr>
              <a:t>Sparse state coverage.  </a:t>
            </a:r>
            <a:r>
              <a:rPr sz="1300" b="0" i="0">
                <a:solidFill>
                  <a:srgbClr val="9FB3A8"/>
                </a:solidFill>
                <a:latin typeface="Calibri"/>
              </a:rPr>
              <a:t>A handful of the 144 states are visited per run — most gain reflects behaviour during learning, not a converged policy.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343400"/>
            <a:ext cx="109728" cy="109728"/>
          </a:xfrm>
          <a:prstGeom prst="ellipse">
            <a:avLst/>
          </a:prstGeom>
          <a:solidFill>
            <a:srgbClr val="F0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F7F2"/>
                </a:solidFill>
                <a:latin typeface="Calibri"/>
              </a:rPr>
              <a:t>Small, fixed topology.  </a:t>
            </a:r>
            <a:r>
              <a:rPr sz="1300" b="0" i="0">
                <a:solidFill>
                  <a:srgbClr val="9FB3A8"/>
                </a:solidFill>
                <a:latin typeface="Calibri"/>
              </a:rPr>
              <a:t>5 switches, one path pair — generalisation is not established by this project.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166360"/>
            <a:ext cx="109728" cy="109728"/>
          </a:xfrm>
          <a:prstGeom prst="ellipse">
            <a:avLst/>
          </a:prstGeom>
          <a:solidFill>
            <a:srgbClr val="F0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F7F2"/>
                </a:solidFill>
                <a:latin typeface="Calibri"/>
              </a:rPr>
              <a:t>Reward weights are hand-chosen, untuned.  </a:t>
            </a:r>
            <a:r>
              <a:rPr sz="1300" b="0" i="0">
                <a:solidFill>
                  <a:srgbClr val="9FB3A8"/>
                </a:solidFill>
                <a:latin typeface="Calibri"/>
              </a:rPr>
              <a:t>Different weights would produce a different policy.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9FB3A8"/>
                </a:solidFill>
                <a:latin typeface="Calibri"/>
              </a:rPr>
              <a:t>Full detail: docs/LIMITATIONS.md and docs/ASSUMPTIONS.md (12 stated assumptions, 8 limitation categories).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62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6201A"/>
                </a:solidFill>
                <a:latin typeface="Cambria"/>
              </a:rPr>
              <a:t>What this project establishes — and 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F3F6F4"/>
          </a:solidFill>
          <a:ln w="12700">
            <a:solidFill>
              <a:srgbClr val="E1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01A"/>
                </a:solidFill>
                <a:latin typeface="Cambria"/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50">
                <a:solidFill>
                  <a:srgbClr val="3D4D44"/>
                </a:solidFill>
                <a:latin typeface="Calibri"/>
              </a:rPr>
              <a:t>RL routing (B, C) measurably beats conventional shortest-path under heavy and failure workloads.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50">
                <a:solidFill>
                  <a:srgbClr val="3D4D44"/>
                </a:solidFill>
                <a:latin typeface="Calibri"/>
              </a:rPr>
              <a:t>Joint flow-timeout control (C) does not clearly beat routing-only control (B) at this seed/step budget.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50">
                <a:solidFill>
                  <a:srgbClr val="3D4D44"/>
                </a:solidFill>
                <a:latin typeface="Calibri"/>
              </a:rPr>
              <a:t>Every claimed behaviour is checked against switch-side flow-table evidence, not controller logs.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150">
                <a:solidFill>
                  <a:srgbClr val="3D4D44"/>
                </a:solidFill>
                <a:latin typeface="Calibri"/>
              </a:rPr>
              <a:t>A frozen-agent control confirms the gain is not an artefact of the RL machinery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16281F"/>
          </a:solidFill>
          <a:ln w="12700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2C55E"/>
                </a:solidFill>
                <a:latin typeface="Cambria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231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F2F7F2"/>
                </a:solidFill>
                <a:latin typeface="Calibri"/>
              </a:rPr>
              <a:t>Longer runs / more seeds for full state coverage and a real train-then-freeze evaluation.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F2F7F2"/>
                </a:solidFill>
                <a:latin typeface="Calibri"/>
              </a:rPr>
              <a:t>Function approximation (e.g. DQN) to scale beyond the 144-state tabular representation.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F2F7F2"/>
                </a:solidFill>
                <a:latin typeface="Calibri"/>
              </a:rPr>
              <a:t>Larger, more realistic topologies with more than two candidate paths.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F2F7F2"/>
                </a:solidFill>
                <a:latin typeface="Calibri"/>
              </a:rPr>
              <a:t>Hardware or dedicated-testbed validation to remove WSL2 scheduling noise.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F2F7F2"/>
                </a:solidFill>
                <a:latin typeface="Calibri"/>
              </a:rPr>
              <a:t>Automated reward-weight tuning instead of hand-chosen weights.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B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79A"/>
                </a:solidFill>
                <a:latin typeface="Calibri"/>
              </a:rPr>
              <a:t>REFERENCES &amp; PROJECT ARTEFACTS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7F2"/>
                </a:solidFill>
                <a:latin typeface="Cambria"/>
              </a:rPr>
              <a:t>Where every claim in this deck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4D4CB"/>
                </a:solidFill>
                <a:latin typeface="Courier New"/>
              </a:rPr>
              <a:t>▸  README.md — architecture, topology, agent design, quick-start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5059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4D4CB"/>
                </a:solidFill>
                <a:latin typeface="Courier New"/>
              </a:rPr>
              <a:t>▸  dashboard/README.md — dashboard design, live/mock modes, 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8094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4D4CB"/>
                </a:solidFill>
                <a:latin typeface="Courier New"/>
              </a:rPr>
              <a:t>▸  docs/ASSUMPTIONS.md — 12 stated experimental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1129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4D4CB"/>
                </a:solidFill>
                <a:latin typeface="Courier New"/>
              </a:rPr>
              <a:t>▸  docs/LIMITATIONS.md — 8 categories of stated limitations and threats to validity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416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4D4CB"/>
                </a:solidFill>
                <a:latin typeface="Courier New"/>
              </a:rPr>
              <a:t>▸  analysis/out/REPORT.md — full generated results report (60-run primary matrix)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4D4CB"/>
                </a:solidFill>
                <a:latin typeface="Courier New"/>
              </a:rPr>
              <a:t>▸  analysis/out/fig_*.png — figures generated by analysis/plots.py, used unmodified in this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0235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4D4CB"/>
                </a:solidFill>
                <a:latin typeface="Courier New"/>
              </a:rPr>
              <a:t>▸  results/runs/&lt;run&gt;/ — raw per-run measurement files (append-only, never hand-edited)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12231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2C55E"/>
                </a:solidFill>
                <a:latin typeface="Courier New"/>
              </a:rPr>
              <a:t>Regenerate the report at any time:  python3 -m analysis.aggregate &amp;&amp; python3 -m analysis.verify_behaviour &amp;&amp; python3 -m analysis.plots &amp;&amp; python3 -m analysis.report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RL-Based SDN Traffic Routing and Flow-Table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FB3A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